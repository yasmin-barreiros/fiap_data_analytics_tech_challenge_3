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620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2E5C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E7A6B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 |  POSTECH / FIAP — DATA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Perfil do Profissional de Dados no Brasil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692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executivo baseado na pesquisa State of Data Brasil (2023 – 2025/2026), com pipeline de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Analytics construído em ambiente AWS para apoiar a expansão da área de Dados, Analytics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Inteligência Artificial de uma instituição financeira.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41248" y="4617720"/>
            <a:ext cx="2011680" cy="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46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Yasmin Barreiros </a:t>
            </a: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300" dirty="0" err="1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Pós-graduação</a:t>
            </a: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Data Analytics — FIAP / POSTECH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PROJETO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o Desafio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estratégica em dados para apoiar a expansão da área de Dados, Analytics e IA de uma instituição financeira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cenário: </a:t>
            </a: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Instituição Financeira de grande porte planeja expandir sua área de Dados, Analytics e Inteligência Artificial e precisa compreender o mercado brasileiro de profissionais de dados para orientar decisões de contratação, capacitação e investimento em tecnologia.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2770632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67512" y="3355848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da pesquisa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3657600"/>
            <a:ext cx="2322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· 2024 · 2025/2026 (State of Data Brasil — Data Hackers &amp; Bain)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26060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2E5C8A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770632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 mil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38728" y="3355848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consolidadas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38728" y="3657600"/>
            <a:ext cx="2322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5.293 (2023) + 5.217 (2024) + 3.495 (2025/2026)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45352" y="26060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2770632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9944" y="3355848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negócio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9944" y="3657600"/>
            <a:ext cx="2322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mercado, remuneração, diversidade, tecnologia, IA e oportunidades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16568" y="26060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2E5C8A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770632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281160" y="3355848"/>
            <a:ext cx="2322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em nuvem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81160" y="3657600"/>
            <a:ext cx="2322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Ingestão, tratamento e consulta analítica em arquitetura AWS Medallion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57200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este relatório responde: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937760"/>
            <a:ext cx="11155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está estruturado o mercado brasileiro de Dados e quais perfis são mais valorizados?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cenário de remuneração, diversidade de gênero e distribuição regional?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tecnologias e qual o nível de adoção de Inteligência Artificial entre os profissionais?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oportunidades e desafios se apresentam para empresas que investem em Dados e IA?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Pesquisa State of Data Brasil (Data Hackers/Bain) — edições 2023, 2024 e 2025/2026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0" y="654710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— Big Data &amp; Analytics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750040" y="256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Solução em AWS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ingestão, tratamento e consumo analítico em camadas — Medallion Architecture (Bronze · Silver · Gold)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DCE6F2"/>
          </a:solidFill>
          <a:ln w="19050">
            <a:solidFill>
              <a:srgbClr val="2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Hackers (.csv)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95728" y="160020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CEEDA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95728" y="16002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59936" y="160020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DCE6F2"/>
          </a:solidFill>
          <a:ln w="19050">
            <a:solidFill>
              <a:srgbClr val="2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9936" y="160020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Job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Spark/PySpark — ETL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44184" y="160020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CEEDA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44184" y="160020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(.parquet)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45552" y="160020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DCE6F2"/>
          </a:solidFill>
          <a:ln w="19050">
            <a:solidFill>
              <a:srgbClr val="2E5C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45552" y="16002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Job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Agregações/SQL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784080" y="160020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CEEDA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160020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(.parquet)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94560" y="2034540"/>
            <a:ext cx="201168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58768" y="2034540"/>
            <a:ext cx="201168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43016" y="2034540"/>
            <a:ext cx="201168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2034540"/>
            <a:ext cx="201168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82912" y="2034540"/>
            <a:ext cx="201168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377440" y="320040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DCEEE7"/>
          </a:solidFill>
          <a:ln w="19050">
            <a:solidFill>
              <a:srgbClr val="1E7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32004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33088" y="320040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DCEEE7"/>
          </a:solidFill>
          <a:ln w="19050">
            <a:solidFill>
              <a:srgbClr val="1E7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33088" y="320040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0176" y="32004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DCEEE7"/>
          </a:solidFill>
          <a:ln w="19050">
            <a:solidFill>
              <a:srgbClr val="1E7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0176" y="320040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SQL Serverless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47304" y="320040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DCE6F2"/>
          </a:solidFill>
          <a:ln w="19050">
            <a:solidFill>
              <a:srgbClr val="2E5C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47304" y="32004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Executivo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/ QuickSight / Streamlit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31920" y="3634740"/>
            <a:ext cx="201168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79008" y="3634740"/>
            <a:ext cx="201168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946136" y="3634740"/>
            <a:ext cx="201168" cy="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584180" y="2468880"/>
            <a:ext cx="0" cy="731520"/>
          </a:xfrm>
          <a:prstGeom prst="line">
            <a:avLst/>
          </a:prstGeom>
          <a:noFill/>
          <a:ln w="19050">
            <a:solidFill>
              <a:srgbClr val="5B667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127248" y="2468880"/>
            <a:ext cx="0" cy="274320"/>
          </a:xfrm>
          <a:prstGeom prst="line">
            <a:avLst/>
          </a:prstGeom>
          <a:noFill/>
          <a:ln w="12700">
            <a:solidFill>
              <a:srgbClr val="1E7A6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844284" y="2468880"/>
            <a:ext cx="0" cy="274320"/>
          </a:xfrm>
          <a:prstGeom prst="line">
            <a:avLst/>
          </a:prstGeom>
          <a:noFill/>
          <a:ln w="12700">
            <a:solidFill>
              <a:srgbClr val="1E7A6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0584180" y="2468880"/>
            <a:ext cx="0" cy="274320"/>
          </a:xfrm>
          <a:prstGeom prst="line">
            <a:avLst/>
          </a:prstGeom>
          <a:noFill/>
          <a:ln w="12700">
            <a:solidFill>
              <a:srgbClr val="1E7A6B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127248" y="2743200"/>
            <a:ext cx="7456932" cy="0"/>
          </a:xfrm>
          <a:prstGeom prst="line">
            <a:avLst/>
          </a:prstGeom>
          <a:noFill/>
          <a:ln w="12700">
            <a:solidFill>
              <a:srgbClr val="1E7A6B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154680" y="2743200"/>
            <a:ext cx="0" cy="457200"/>
          </a:xfrm>
          <a:prstGeom prst="line">
            <a:avLst/>
          </a:prstGeom>
          <a:noFill/>
          <a:ln w="12700">
            <a:solidFill>
              <a:srgbClr val="1E7A6B"/>
            </a:solidFill>
            <a:prstDash val="dash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8729682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dados      ·  ·  ·  Catalogação (Glue Crawlers)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443484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4434840"/>
            <a:ext cx="64008" cy="1417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2" name="Text 40"/>
          <p:cNvSpPr/>
          <p:nvPr/>
        </p:nvSpPr>
        <p:spPr>
          <a:xfrm>
            <a:off x="704088" y="455371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· Landing Zone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" y="4910328"/>
            <a:ext cx="22860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dos dados brutos (.csv) das 3 edições da pesquisa</a:t>
            </a:r>
            <a:endParaRPr lang="en-US" sz="1000" dirty="0"/>
          </a:p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não estruturado direto no Amazon S3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69564" y="443484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69564" y="4434840"/>
            <a:ext cx="64008" cy="14173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6" name="Text 44"/>
          <p:cNvSpPr/>
          <p:nvPr/>
        </p:nvSpPr>
        <p:spPr>
          <a:xfrm>
            <a:off x="3570732" y="455371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Standardization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570732" y="4910328"/>
            <a:ext cx="22860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de esquemas e padronização com PySpark</a:t>
            </a:r>
            <a:endParaRPr lang="en-US" sz="1000" dirty="0"/>
          </a:p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para formato colunar Parquet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36208" y="443484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36208" y="4434840"/>
            <a:ext cx="64008" cy="14173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50" name="Text 48"/>
          <p:cNvSpPr/>
          <p:nvPr/>
        </p:nvSpPr>
        <p:spPr>
          <a:xfrm>
            <a:off x="6437376" y="455371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Analytics Zone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37376" y="4910328"/>
            <a:ext cx="22860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histórica unificando os 3 ciclos</a:t>
            </a:r>
            <a:endParaRPr lang="en-US" sz="1000" dirty="0"/>
          </a:p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Particionamento físico por 'ano_pesquisa'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102852" y="4434840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02852" y="4434840"/>
            <a:ext cx="64008" cy="1417320"/>
          </a:xfrm>
          <a:prstGeom prst="rect">
            <a:avLst/>
          </a:prstGeom>
          <a:solidFill>
            <a:srgbClr val="1E7A6B"/>
          </a:solidFill>
          <a:ln/>
        </p:spPr>
      </p:sp>
      <p:sp>
        <p:nvSpPr>
          <p:cNvPr id="54" name="Text 52"/>
          <p:cNvSpPr/>
          <p:nvPr/>
        </p:nvSpPr>
        <p:spPr>
          <a:xfrm>
            <a:off x="9304020" y="455371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&amp; Consumo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304020" y="4910328"/>
            <a:ext cx="22860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Catalogação automatizada via Glue Crawlers</a:t>
            </a:r>
            <a:endParaRPr lang="en-US" sz="1000" dirty="0"/>
          </a:p>
          <a:p>
            <a:pPr marL="152400" indent="-1524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serverless via Amazon Athena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0292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enunciado do Tech Challenge Fase 3 (POSTECH/FIAP) e desenho de solução do grupo — AWS Academy Lab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961120" y="654710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— Big Data &amp; Analytics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750040" y="256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MERCADO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Cargos Líderes &amp; Amadurecimento da Senioridade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dos cargos com maior presença e transição no perfil de experiência dos profissionais</a:t>
            </a:r>
            <a:endParaRPr lang="en-US" sz="1350" dirty="0"/>
          </a:p>
        </p:txBody>
      </p:sp>
      <p:pic>
        <p:nvPicPr>
          <p:cNvPr id="5" name="Image 0" descr="/home/claude/assets/01_top_car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62" y="1645920"/>
            <a:ext cx="5760698" cy="2601941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pic>
        <p:nvPicPr>
          <p:cNvPr id="6" name="Image 1" descr="/home/claude/assets/01_evolucao_senior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718" y="1645920"/>
            <a:ext cx="5417820" cy="2676789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02920" y="4642882"/>
            <a:ext cx="11155680" cy="1750023"/>
          </a:xfrm>
          <a:prstGeom prst="roundRect">
            <a:avLst>
              <a:gd name="adj" fmla="val 4142"/>
            </a:avLst>
          </a:prstGeom>
          <a:solidFill>
            <a:srgbClr val="F3F6FA"/>
          </a:solidFill>
          <a:ln w="12700">
            <a:solidFill>
              <a:srgbClr val="E1E6ED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4"/>
          <p:cNvSpPr/>
          <p:nvPr/>
        </p:nvSpPr>
        <p:spPr>
          <a:xfrm>
            <a:off x="795528" y="4834773"/>
            <a:ext cx="10570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95528" y="5089799"/>
            <a:ext cx="10570464" cy="9350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 dominantes: Analista de Dados (599), Cientista de Dados (424) e Engenheiro de Dados (402) concentram a base do setor.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Encolhimento da base júnior: de 27% (2023) para 21% (2025/2026), com Sênior subindo para 34% e surgimento da categoria Especialista/Staff+ (14%).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95528" y="5779008"/>
            <a:ext cx="10570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transicionou do ciclo de contratação acelerada de iniciantes para uma fase de maturidade corporativa, priorizando retenção e contratação de profissionais experientes.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Pesquisa State of Data Brasil (Data Hackers/Bain) — edições 2023, 2024 e 2025/2026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961120" y="654710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— Big Data &amp; Analytics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750040" y="256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MERCADO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Concentração Geográfica &amp; Modelos de Trabalho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regional dos profissionais de dados e evolução das preferências de modelo de trabalho</a:t>
            </a:r>
            <a:endParaRPr lang="en-US" sz="1350" dirty="0"/>
          </a:p>
        </p:txBody>
      </p:sp>
      <p:pic>
        <p:nvPicPr>
          <p:cNvPr id="5" name="Image 0" descr="/home/claude/assets/11_regiao_evolu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94" y="1620539"/>
            <a:ext cx="5845606" cy="2891002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pic>
        <p:nvPicPr>
          <p:cNvPr id="6" name="Image 1" descr="/home/claude/assets/12_modelo_trabal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069" y="1620539"/>
            <a:ext cx="5758876" cy="2891002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02920" y="4761186"/>
            <a:ext cx="11155680" cy="1639614"/>
          </a:xfrm>
          <a:prstGeom prst="roundRect">
            <a:avLst>
              <a:gd name="adj" fmla="val 4234"/>
            </a:avLst>
          </a:prstGeom>
          <a:solidFill>
            <a:srgbClr val="F3F6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5528" y="4848686"/>
            <a:ext cx="10570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92900" y="5119853"/>
            <a:ext cx="10570464" cy="8920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no Sudeste segue crescendo: de 61% (2023) para 64% (2025/2026); a região Sul perde espaço relativo, de 19% para 16%.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100% remoto recua de 46% para 40%, enquanto o modelo presencial cresce de 16% para 21% e o híbrido flexível se mantém em ~20%.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95528" y="5779008"/>
            <a:ext cx="10570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que o remoto siga relevante, o mercado sinaliza retorno gradual a modelos presenciais e híbridos — e a centralização no Sudeste exige estratégias de atração compatíveis com múltiplas praças.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Pesquisa State of Data Brasil (Data Hackers/Bain) — edições 2023, 2024 e 2025/2026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961120" y="654710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— Big Data &amp; Analytics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750040" y="256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Absoluto vs. Concentração Técnica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dos papéis com maior densidade de salários superiores (&gt; R$ 16 mil)</a:t>
            </a:r>
            <a:endParaRPr lang="en-US" sz="1350" dirty="0"/>
          </a:p>
        </p:txBody>
      </p:sp>
      <p:pic>
        <p:nvPicPr>
          <p:cNvPr id="5" name="Image 0" descr="/home/claude/assets/03_remuneracao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51" y="1700265"/>
            <a:ext cx="5645370" cy="2551003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pic>
        <p:nvPicPr>
          <p:cNvPr id="6" name="Image 1" descr="/home/claude/assets/04_remuneracao_concentra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1700264"/>
            <a:ext cx="5780573" cy="2551003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02920" y="4708684"/>
            <a:ext cx="11155680" cy="1692116"/>
          </a:xfrm>
          <a:prstGeom prst="roundRect">
            <a:avLst>
              <a:gd name="adj" fmla="val 3715"/>
            </a:avLst>
          </a:prstGeom>
          <a:solidFill>
            <a:srgbClr val="F3F6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5527" y="4835963"/>
            <a:ext cx="10570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95528" y="5154803"/>
            <a:ext cx="10570464" cy="6102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absoluto: Engenheiros de Dados (76) e Cientistas de Dados (67) lideram a contagem de pessoas no topo salarial.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proporcional: Arquitetos de Dados (28,6%) e Engenheiros de ML/AI (25,5%) têm a maior taxa de conversão do próprio cargo para faixas &gt; R$16k.</a:t>
            </a:r>
          </a:p>
        </p:txBody>
      </p:sp>
      <p:sp>
        <p:nvSpPr>
          <p:cNvPr id="10" name="Text 6"/>
          <p:cNvSpPr/>
          <p:nvPr/>
        </p:nvSpPr>
        <p:spPr>
          <a:xfrm>
            <a:off x="795528" y="5897880"/>
            <a:ext cx="10570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equipe não equivale a salários mais altos: especializações em infraestrutura e IA oferecem maior retorno financeiro proporcional.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Pesquisa State of Data Brasil (Data Hackers/Bain) — edições 2023, 2024 e 2025/2026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961120" y="654710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— Big Data &amp; Analytics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750040" y="256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Tecnológico: Linguagens &amp; Provedores de Nuvem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que sustentam a operação diária dos profissionais de dados no Brasil</a:t>
            </a:r>
            <a:endParaRPr lang="en-US" sz="1350" dirty="0"/>
          </a:p>
        </p:txBody>
      </p:sp>
      <p:pic>
        <p:nvPicPr>
          <p:cNvPr id="5" name="Image 0" descr="/home/claude/assets/07_top_linguag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417820" cy="2449286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pic>
        <p:nvPicPr>
          <p:cNvPr id="6" name="Image 1" descr="/home/claude/assets/08_top_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046" y="1647027"/>
            <a:ext cx="5417820" cy="2448179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02920" y="4607270"/>
            <a:ext cx="11155680" cy="1793530"/>
          </a:xfrm>
          <a:prstGeom prst="roundRect">
            <a:avLst>
              <a:gd name="adj" fmla="val 3717"/>
            </a:avLst>
          </a:prstGeom>
          <a:solidFill>
            <a:srgbClr val="F3F6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5528" y="4672880"/>
            <a:ext cx="10570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95528" y="5101245"/>
            <a:ext cx="10570464" cy="11625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(1.929 citações) e SQL (1.764) formam a base indispensável da categoria, muito à frente de R (295) e das demais linguagens.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lidera a adoção de cloud (1.012 citações), seguida por Azure (730) e Google Cloud (647); ainda restam 300 citações de servidores on-premise.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95528" y="5779008"/>
            <a:ext cx="10570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SQL e AWS tornaram-se pré-requisitos básicos de contratação — domínio dessas ferramentas deixou de ser diferencial e passou a ser condição de entrada.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Pesquisa State of Data Brasil (Data Hackers/Bain) — edições 2023, 2024 e 2025/2026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961120" y="654710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— Big Data &amp; Analytics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750040" y="256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Generativa: de Diferencial a Padrão Operacional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de adoção de assistentes de IA no dia a dia dos profissionais de dados</a:t>
            </a:r>
            <a:endParaRPr lang="en-US" sz="1350" dirty="0"/>
          </a:p>
        </p:txBody>
      </p:sp>
      <p:pic>
        <p:nvPicPr>
          <p:cNvPr id="5" name="Image 0" descr="/home/claude/assets/02_adocao_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1328"/>
            <a:ext cx="5417820" cy="2668877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pic>
        <p:nvPicPr>
          <p:cNvPr id="6" name="Image 1" descr="/home/claude/assets/10_ia_senior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1481328"/>
            <a:ext cx="5417820" cy="2679436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02920" y="4416796"/>
            <a:ext cx="11155680" cy="1984004"/>
          </a:xfrm>
          <a:prstGeom prst="roundRect">
            <a:avLst>
              <a:gd name="adj" fmla="val 4148"/>
            </a:avLst>
          </a:prstGeom>
          <a:solidFill>
            <a:srgbClr val="F3F6FA"/>
          </a:solidFill>
          <a:ln w="12700">
            <a:solidFill>
              <a:srgbClr val="E1E6ED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4"/>
          <p:cNvSpPr/>
          <p:nvPr/>
        </p:nvSpPr>
        <p:spPr>
          <a:xfrm>
            <a:off x="795528" y="4581388"/>
            <a:ext cx="10570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95528" y="5012924"/>
            <a:ext cx="10570464" cy="932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de IA generativa saltou de 93% (2024) para 98% (2025/2026) — praticamente universal entre os profissionais da área.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adoção é uniforme entre níveis de experiência: de Júnior (97%) a Especialista/Staff+ (98%), sem diferenças relevantes por senioridade.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95528" y="5779008"/>
            <a:ext cx="105704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adoção de IA generativa deixou de ser sinal de maturidade individual e passou a ser requisito básico de produtividade em toda a pirâmide de senioridade.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Pesquisa State of Data Brasil (Data Hackers/Bain) — edições 2023, 2024 e 2025/2026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961120" y="654710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— Big Data &amp; Analytics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750040" y="256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&amp; INCLUSÃO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 da Equidade de Gênero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de carreira e retenção de talentos femininos ao longo da senioridade</a:t>
            </a:r>
            <a:endParaRPr lang="en-US" sz="1350" dirty="0"/>
          </a:p>
        </p:txBody>
      </p:sp>
      <p:pic>
        <p:nvPicPr>
          <p:cNvPr id="5" name="Image 0" descr="/home/claude/assets/05_genero_evolu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651660"/>
            <a:ext cx="5417820" cy="2672827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pic>
        <p:nvPicPr>
          <p:cNvPr id="6" name="Image 1" descr="/home/claude/assets/06_genero_senior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312" y="1667756"/>
            <a:ext cx="5417820" cy="2674146"/>
          </a:xfrm>
          <a:prstGeom prst="rect">
            <a:avLst/>
          </a:prstGeom>
          <a:effectLst>
            <a:outerShdw blurRad="101600" dist="25400" dir="5400000" algn="bl" rotWithShape="0">
              <a:srgbClr val="6B7785">
                <a:alpha val="2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02920" y="4669740"/>
            <a:ext cx="11155680" cy="1731059"/>
          </a:xfrm>
          <a:prstGeom prst="roundRect">
            <a:avLst>
              <a:gd name="adj" fmla="val 4137"/>
            </a:avLst>
          </a:prstGeom>
          <a:solidFill>
            <a:srgbClr val="F3F6FA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5527" y="4784361"/>
            <a:ext cx="10570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95528" y="5093784"/>
            <a:ext cx="10570464" cy="9377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feminina estagnada entre 22% e 25% nas três edições da pesquisa (2023 a 2025/2026).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funil (leaky pipeline): mulheres representam 28% no nível Júnior, mas caem para 20% no nível Especialista/Staff+.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95527" y="5925312"/>
            <a:ext cx="1072760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principal gargalo de diversidade não está na atração de talentos iniciantes, mas na retenção e promoção de mulheres para cargos de alta senioridade.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Pesquisa State of Data Brasil (Data Hackers/Bain) — edições 2023, 2024 e 2025/2026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961120" y="654710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— Big Data &amp; Analytics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750040" y="256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206240" cy="4206240"/>
          </a:xfrm>
          <a:prstGeom prst="ellipse">
            <a:avLst/>
          </a:prstGeom>
          <a:solidFill>
            <a:srgbClr val="2E5C8A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ESTRATÉGICA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 Executivas &amp; Recomendações Estratégicas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Direcionamentos para governança de dados, contratação e desenvolvimento de pessoas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5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— POSTECH / FIAP — Data Analytics  |  Fonte: State of Data Brasil (Data Hackers/Bain), 2023–2025/2026</a:t>
            </a:r>
            <a:endParaRPr lang="en-US" sz="95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CCCA0BED-6B07-469C-9A82-7C67BF1CD9AF}"/>
              </a:ext>
            </a:extLst>
          </p:cNvPr>
          <p:cNvSpPr/>
          <p:nvPr/>
        </p:nvSpPr>
        <p:spPr>
          <a:xfrm>
            <a:off x="502920" y="196596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1E2E52"/>
          </a:solidFill>
          <a:ln w="12700">
            <a:solidFill>
              <a:srgbClr val="35456B"/>
            </a:solidFill>
            <a:prstDash val="solid"/>
          </a:ln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897951D4-1C0A-475A-86EE-33784DED027F}"/>
              </a:ext>
            </a:extLst>
          </p:cNvPr>
          <p:cNvSpPr/>
          <p:nvPr/>
        </p:nvSpPr>
        <p:spPr>
          <a:xfrm>
            <a:off x="758952" y="21671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D18EFCCB-F274-4020-AFB3-A5C9E190E27F}"/>
              </a:ext>
            </a:extLst>
          </p:cNvPr>
          <p:cNvSpPr/>
          <p:nvPr/>
        </p:nvSpPr>
        <p:spPr>
          <a:xfrm>
            <a:off x="758952" y="274320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 &amp; Talento</a:t>
            </a:r>
            <a:endParaRPr lang="en-US" sz="16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32C762B9-62AC-460F-9806-E147674EF7DC}"/>
              </a:ext>
            </a:extLst>
          </p:cNvPr>
          <p:cNvSpPr/>
          <p:nvPr/>
        </p:nvSpPr>
        <p:spPr>
          <a:xfrm>
            <a:off x="758952" y="3264408"/>
            <a:ext cx="50292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F3012664-8B33-4D8D-BD09-55D755377A90}"/>
              </a:ext>
            </a:extLst>
          </p:cNvPr>
          <p:cNvSpPr/>
          <p:nvPr/>
        </p:nvSpPr>
        <p:spPr>
          <a:xfrm>
            <a:off x="758952" y="3520440"/>
            <a:ext cx="30998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a contratação de Arquitetos de Dados e ML/AI Engineers — maior retorno salarial proporcional do mercado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trilhas internas de crescimento: a base júnior encolheu para 21%, exigindo formação de sênior via promoção, não só via mercado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o funil de candidatos com modelos híbridos/remotos, dado que 64% da oferta está concentrada no Sudeste</a:t>
            </a:r>
            <a:endParaRPr lang="en-US" sz="120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EC9723AD-0728-4AA4-A446-F7E5E6252D9E}"/>
              </a:ext>
            </a:extLst>
          </p:cNvPr>
          <p:cNvSpPr/>
          <p:nvPr/>
        </p:nvSpPr>
        <p:spPr>
          <a:xfrm>
            <a:off x="4297680" y="196596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1E2E52"/>
          </a:solidFill>
          <a:ln w="12700">
            <a:solidFill>
              <a:srgbClr val="35456B"/>
            </a:solidFill>
            <a:prstDash val="solid"/>
          </a:ln>
        </p:spPr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01837DC3-1CF3-471E-92EF-470E9B4EFB6F}"/>
              </a:ext>
            </a:extLst>
          </p:cNvPr>
          <p:cNvSpPr/>
          <p:nvPr/>
        </p:nvSpPr>
        <p:spPr>
          <a:xfrm>
            <a:off x="4553712" y="21671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8D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794EA6DE-B28B-40A0-A89C-625C9A2F1496}"/>
              </a:ext>
            </a:extLst>
          </p:cNvPr>
          <p:cNvSpPr/>
          <p:nvPr/>
        </p:nvSpPr>
        <p:spPr>
          <a:xfrm>
            <a:off x="4553712" y="274320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&amp; Pessoas</a:t>
            </a:r>
            <a:endParaRPr lang="en-US" sz="1600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38980EB2-B566-4E1F-97B9-D6410EB9828F}"/>
              </a:ext>
            </a:extLst>
          </p:cNvPr>
          <p:cNvSpPr/>
          <p:nvPr/>
        </p:nvSpPr>
        <p:spPr>
          <a:xfrm>
            <a:off x="4553712" y="3264408"/>
            <a:ext cx="502920" cy="0"/>
          </a:xfrm>
          <a:prstGeom prst="line">
            <a:avLst/>
          </a:prstGeom>
          <a:noFill/>
          <a:ln w="25400">
            <a:solidFill>
              <a:srgbClr val="5B8DBE"/>
            </a:solidFill>
            <a:prstDash val="solid"/>
          </a:ln>
        </p:spPr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3FFE0AEE-9916-42E8-8AC4-C5B2F8FD702F}"/>
              </a:ext>
            </a:extLst>
          </p:cNvPr>
          <p:cNvSpPr/>
          <p:nvPr/>
        </p:nvSpPr>
        <p:spPr>
          <a:xfrm>
            <a:off x="4553712" y="3520440"/>
            <a:ext cx="30998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Python, SQL e uso responsável de IA generativa — já são pré-requisitos básicos, não diferenciais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plano de carreira para reter profissionais Sênior e Especialista/Staff+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programas de mentoria e promoção para mulheres, cuja participação cai de 28% (Júnior) para 20% (Especialista/Staff+) e estancar a </a:t>
            </a:r>
            <a:r>
              <a:rPr lang="en-US" sz="1200" dirty="0" err="1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</a:t>
            </a: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talentos</a:t>
            </a: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femininos</a:t>
            </a: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</a:t>
            </a: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200" dirty="0" err="1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Sênior</a:t>
            </a: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F7553B3F-4F86-4EB8-A402-4F15C66690D0}"/>
              </a:ext>
            </a:extLst>
          </p:cNvPr>
          <p:cNvSpPr/>
          <p:nvPr/>
        </p:nvSpPr>
        <p:spPr>
          <a:xfrm>
            <a:off x="8092440" y="196596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1E2E52"/>
          </a:solidFill>
          <a:ln w="12700">
            <a:solidFill>
              <a:srgbClr val="35456B"/>
            </a:solidFill>
            <a:prstDash val="solid"/>
          </a:ln>
        </p:spPr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7889ACF6-3617-4857-A479-E31EB0011439}"/>
              </a:ext>
            </a:extLst>
          </p:cNvPr>
          <p:cNvSpPr/>
          <p:nvPr/>
        </p:nvSpPr>
        <p:spPr>
          <a:xfrm>
            <a:off x="8348472" y="21671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A0884A0F-326C-49EF-B422-D466640C6754}"/>
              </a:ext>
            </a:extLst>
          </p:cNvPr>
          <p:cNvSpPr/>
          <p:nvPr/>
        </p:nvSpPr>
        <p:spPr>
          <a:xfrm>
            <a:off x="8348472" y="274320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em Tecnologia</a:t>
            </a:r>
            <a:endParaRPr lang="en-US" sz="160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544E836A-D813-4E49-B5C4-C331A6DDEABD}"/>
              </a:ext>
            </a:extLst>
          </p:cNvPr>
          <p:cNvSpPr/>
          <p:nvPr/>
        </p:nvSpPr>
        <p:spPr>
          <a:xfrm>
            <a:off x="8348472" y="3264408"/>
            <a:ext cx="502920" cy="0"/>
          </a:xfrm>
          <a:prstGeom prst="line">
            <a:avLst/>
          </a:prstGeom>
          <a:noFill/>
          <a:ln w="25400">
            <a:solidFill>
              <a:srgbClr val="1E7A6B"/>
            </a:solidFill>
            <a:prstDash val="solid"/>
          </a:ln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DC5DFC49-B3F6-4768-BA0B-65F98E6E87C1}"/>
              </a:ext>
            </a:extLst>
          </p:cNvPr>
          <p:cNvSpPr/>
          <p:nvPr/>
        </p:nvSpPr>
        <p:spPr>
          <a:xfrm>
            <a:off x="8348472" y="3520440"/>
            <a:ext cx="30998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 AWS como cloud primária — líder disparada de adoção no mercado (1.012 citações)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arquitetura em camadas (Medallion: Bronze/Silver/Gold) com governança via Glue Data Catalog, como validado na solução deste projeto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IA generativa de forma corporativa e segura — adoção já é quase universal (98%) entre os profissionais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1594</Words>
  <Application>Microsoft Office PowerPoint</Application>
  <PresentationFormat>Widescreen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Yasmin Da Costa Barreiros</cp:lastModifiedBy>
  <cp:revision>7</cp:revision>
  <dcterms:created xsi:type="dcterms:W3CDTF">2026-09-01T23:02:48Z</dcterms:created>
  <dcterms:modified xsi:type="dcterms:W3CDTF">2026-09-02T15:04:08Z</dcterms:modified>
</cp:coreProperties>
</file>